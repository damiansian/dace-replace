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274320" y="-274320"/>
            <a:ext cx="1645920" cy="164592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E9ECE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457200" y="3200400"/>
            <a:ext cx="1097280" cy="109728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Assignment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Case + Connect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51CF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Components 4 &amp; 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pPr algn="ct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Assignment   •   Due: Monday, April 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capstone continues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 produces components. By Week 15, you assemble them into a portfolio.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463040" cy="1234440"/>
          </a:xfrm>
          <a:prstGeom prst="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+ C3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783080"/>
            <a:ext cx="1463040" cy="1234440"/>
          </a:xfrm>
          <a:prstGeom prst="rect">
            <a:avLst/>
          </a:prstGeom>
          <a:solidFill>
            <a:srgbClr val="51CF66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9456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F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+ C5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F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783080"/>
            <a:ext cx="1463040" cy="123444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Catch-up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783080"/>
            <a:ext cx="1463040" cy="123444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1783080"/>
            <a:ext cx="1463040" cy="1234440"/>
          </a:xfrm>
          <a:prstGeom prst="rect">
            <a:avLst/>
          </a:prstGeom>
          <a:solidFill>
            <a:srgbClr val="F1F3F5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EBFBEE"/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383280"/>
            <a:ext cx="54864" cy="109728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(Weeks 11–14)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PEAS Session (C2)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or watch anytime. Write a reflection when ready.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Connections (C6)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is a natural time — you’re building the case they live in.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6858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3F9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85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and Business Case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doing: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legal frameworks relevant to your product (ADA, 508, AODA, EAA)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which C1 findings create compliance risk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the business rationale for decision-makers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the cost of inaction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691640"/>
            <a:ext cx="3657600" cy="219456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691640"/>
            <a:ext cx="54864" cy="219456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 to answer: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148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legal frameworks apply to your product’s markets?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business outcomes will resonate with your stakeholders?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these issues stay unaddressed?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 (Legal Frameworks), L21 (Business Case)     </a:t>
            </a:r>
            <a:pPr indent="0" marL="0">
              <a:buNone/>
            </a:pPr>
            <a:r>
              <a:rPr lang="en-US" sz="10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LOs: </a:t>
            </a:r>
            <a:pPr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3E.01-04, 3F.01-03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of quality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Business Case (C4)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8046720" cy="384048"/>
          </a:xfrm>
          <a:prstGeom prst="rect">
            <a:avLst/>
          </a:prstGeom>
          <a:solidFill>
            <a:srgbClr val="FFF9DB"/>
          </a:solidFill>
          <a:ln w="6350">
            <a:solidFill>
              <a:srgbClr val="F59F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45720" cy="384048"/>
          </a:xfrm>
          <a:prstGeom prst="rect">
            <a:avLst/>
          </a:prstGeom>
          <a:solidFill>
            <a:srgbClr val="F59F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572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legal requirements and general benefits without product connection.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8046720" cy="384048"/>
          </a:xfrm>
          <a:prstGeom prst="rect">
            <a:avLst/>
          </a:prstGeom>
          <a:solidFill>
            <a:srgbClr val="EBFBEE"/>
          </a:solidFill>
          <a:ln w="6350">
            <a:solidFill>
              <a:srgbClr val="51CF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45720" cy="384048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029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(3)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1945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legal exposure to specific findings. Business case uses product-relevant data.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8046720" cy="384048"/>
          </a:xfrm>
          <a:prstGeom prst="rect">
            <a:avLst/>
          </a:prstGeom>
          <a:solidFill>
            <a:srgbClr val="D0EBFF"/>
          </a:solidFill>
          <a:ln w="6350">
            <a:solidFill>
              <a:srgbClr val="1971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468880"/>
            <a:ext cx="45720" cy="384048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4871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1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Exemplary (4)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26517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Quantifies risk or opportunity in terms decision-makers would use.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 (C5)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8046720" cy="384048"/>
          </a:xfrm>
          <a:prstGeom prst="rect">
            <a:avLst/>
          </a:prstGeom>
          <a:solidFill>
            <a:srgbClr val="FFF9DB"/>
          </a:solidFill>
          <a:ln w="6350">
            <a:solidFill>
              <a:srgbClr val="F59F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383280"/>
            <a:ext cx="45720" cy="384048"/>
          </a:xfrm>
          <a:prstGeom prst="rect">
            <a:avLst/>
          </a:prstGeom>
          <a:solidFill>
            <a:srgbClr val="F59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4015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(2)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5661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recommendation not connected to findings or actual dev process.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8046720" cy="384048"/>
          </a:xfrm>
          <a:prstGeom prst="rect">
            <a:avLst/>
          </a:prstGeom>
          <a:solidFill>
            <a:srgbClr val="EBFBEE"/>
          </a:solidFill>
          <a:ln w="6350">
            <a:solidFill>
              <a:srgbClr val="51CF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40480"/>
            <a:ext cx="45720" cy="384048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858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(3)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0233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Specific, actionable recommendation tied to C1 data and team’s real workflow.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8046720" cy="384048"/>
          </a:xfrm>
          <a:prstGeom prst="rect">
            <a:avLst/>
          </a:prstGeom>
          <a:solidFill>
            <a:srgbClr val="D0EBFF"/>
          </a:solidFill>
          <a:ln w="6350">
            <a:solidFill>
              <a:srgbClr val="1971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97680"/>
            <a:ext cx="45720" cy="384048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1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Exemplary (4)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44805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how the recommendation fits the broader product roadmap.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be at a 3 or 4 right now. You need a concrete plan and a start.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68580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3F9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85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 Recommendation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"we should be more accessible." A specific, actionable recommendation.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931920" cy="201168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54864" cy="201168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format: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for a specific feature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input — prioritized improvements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Early-intervention proposal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recommendation for existing process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3931920" cy="2011680"/>
          </a:xfrm>
          <a:prstGeom prst="rect">
            <a:avLst/>
          </a:prstGeom>
          <a:solidFill>
            <a:srgbClr val="EBFBE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011680"/>
            <a:ext cx="54864" cy="2011680"/>
          </a:xfrm>
          <a:prstGeom prst="rect">
            <a:avLst/>
          </a:prstGeom>
          <a:solidFill>
            <a:srgbClr val="2B8A3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must be: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3774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actual feature/component/process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could read this and know what to do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 back to C1 findings and C4 rationale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to what your team could adopt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L22 (Product Strategy Integration)     </a:t>
            </a:r>
            <a:pPr indent="0" marL="0">
              <a:buNone/>
            </a:pPr>
            <a:r>
              <a:rPr lang="en-US" sz="10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LOs: </a:t>
            </a:r>
            <a:pPr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3G.01, 3G.02, 3G.03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Ongoing: These run all badge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is a natural time for both of these.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7947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3794760" cy="457200"/>
          </a:xfrm>
          <a:prstGeom prst="rect">
            <a:avLst/>
          </a:prstGeom>
          <a:solidFill>
            <a:srgbClr val="EBFB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PEAS Session (C2)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session comes up this week, take it.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legal and business content from L20–L21 will add depth to your reflection.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anytime Weeks 11–14.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691640"/>
            <a:ext cx="37947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691640"/>
            <a:ext cx="3794760" cy="457200"/>
          </a:xfrm>
          <a:prstGeom prst="rect">
            <a:avLst/>
          </a:prstGeom>
          <a:solidFill>
            <a:srgbClr val="EBFBEE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Connections (C6)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22402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building the legal and business case.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Legal and PM counterparts are the people who live in that world. Reach out if you haven’t already.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anytime Weeks 11–14.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submitting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Monday, April 6 (before next session)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 to see by Monday: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plan for both components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level of completeness is fine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legal frameworks apply to your product? (C4)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type of recommendation are you drafting? (C5)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connect to your C1 problem definition?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2011680"/>
            <a:ext cx="54864" cy="109728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103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Preferably to the same Figma file you've been using for all your other assignments.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like — Figma, doc, slides, structured text.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solidFill>
            <a:srgbClr val="FFF9DB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49040"/>
            <a:ext cx="54864" cy="822960"/>
          </a:xfrm>
          <a:prstGeom prst="rect">
            <a:avLst/>
          </a:prstGeom>
          <a:solidFill>
            <a:srgbClr val="F59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947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graded against the rubric yet.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applies to the final capstone portfolio. These are two of the six components — refine them later.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me with questions about: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identify which legal frameworks apply to your product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the business case for your specific stakeholders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your recommendation to something realistic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C4 and C5 back to your C1 findings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assignment details are on Canvas.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2743200" cy="2743200"/>
          </a:xfrm>
          <a:prstGeom prst="ellipse">
            <a:avLst/>
          </a:prstGeom>
          <a:solidFill>
            <a:srgbClr val="D3F9D8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900000">
            <a:off x="6858000" y="3200400"/>
            <a:ext cx="1828800" cy="182880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 Assignment — Build the Case + Connect</dc:title>
  <dc:subject>PptxGenJS Presentation</dc:subject>
  <dc:creator>DACE Training Program</dc:creator>
  <cp:lastModifiedBy>DACE Training Program</cp:lastModifiedBy>
  <cp:revision>1</cp:revision>
  <dcterms:created xsi:type="dcterms:W3CDTF">2026-03-23T21:03:53Z</dcterms:created>
  <dcterms:modified xsi:type="dcterms:W3CDTF">2026-03-23T21:03:53Z</dcterms:modified>
</cp:coreProperties>
</file>