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-274320" y="-274320"/>
            <a:ext cx="1645920" cy="1645920"/>
          </a:xfrm>
          <a:prstGeom prst="rect">
            <a:avLst/>
          </a:prstGeom>
          <a:solidFill>
            <a:srgbClr val="E9ECEF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3474720"/>
            <a:ext cx="2286000" cy="2286000"/>
          </a:xfrm>
          <a:prstGeom prst="ellipse">
            <a:avLst/>
          </a:prstGeom>
          <a:solidFill>
            <a:srgbClr val="E9ECEF">
              <a:alpha val="6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Portfolio Submission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0" y="2651760"/>
            <a:ext cx="2743200" cy="0"/>
          </a:xfrm>
          <a:prstGeom prst="line">
            <a:avLst/>
          </a:prstGeom>
          <a:noFill/>
          <a:ln w="25400">
            <a:solidFill>
              <a:srgbClr val="51CF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 Assessment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pPr algn="ctr" indent="0" marL="0">
              <a:buNone/>
            </a:pPr>
            <a:r>
              <a:rPr lang="en-US" sz="13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•   Assignment   •   Due: Friday, April 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week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week produces components. By Week 15, you assemble them into a portfolio.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+ C3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01168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19456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19456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+ C5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19456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84048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Workshop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048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30352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783080"/>
            <a:ext cx="1463040" cy="1234440"/>
          </a:xfrm>
          <a:prstGeom prst="rect">
            <a:avLst/>
          </a:prstGeom>
          <a:solidFill>
            <a:srgbClr val="E9ECEF"/>
          </a:solidFill>
          <a:ln w="6350">
            <a:solidFill>
              <a:srgbClr val="E9ECEF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Check-in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8640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 ✓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49440" y="2148840"/>
            <a:ext cx="182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68E96"/>
                </a:solidFill>
              </a:rPr>
              <a:t>▶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132320" y="1783080"/>
            <a:ext cx="1463040" cy="1234440"/>
          </a:xfrm>
          <a:prstGeom prst="rect">
            <a:avLst/>
          </a:prstGeom>
          <a:solidFill>
            <a:srgbClr val="51CF66"/>
          </a:solidFill>
          <a:ln/>
          <a:effectLst>
            <a:outerShdw sx="100000" sy="100000" kx="0" ky="0" algn="bl" rotWithShape="0" blurRad="76200" dist="38100" dir="8100000">
              <a:srgbClr val="000000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132320" y="18288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32320" y="21488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132320" y="25603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3F9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one URL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complete capstone portfolio with all six components.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7647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D3F9D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647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37160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Definition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931920" y="16916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Data-driven, classified by severity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26771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D3F9D8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26771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7160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PEAS Reflection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31920" y="21945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Connects findings to your product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277063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D3F9D8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277063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71600" y="2697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Contribution Artifact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931920" y="2697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Team-specific, usable resource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731520" y="327355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D3F9D8"/>
          </a:solidFill>
          <a:ln/>
        </p:spPr>
      </p:sp>
      <p:sp>
        <p:nvSpPr>
          <p:cNvPr id="25" name="Text 23"/>
          <p:cNvSpPr/>
          <p:nvPr/>
        </p:nvSpPr>
        <p:spPr>
          <a:xfrm>
            <a:off x="731520" y="32735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371600" y="32004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&amp; Business Case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931920" y="3200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exposure + business rationale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48640" y="3703320"/>
            <a:ext cx="8046720" cy="457200"/>
          </a:xfrm>
          <a:prstGeom prst="rect">
            <a:avLst/>
          </a:prstGeom>
          <a:solidFill>
            <a:srgbClr val="F1F3F5"/>
          </a:solidFill>
          <a:ln/>
        </p:spPr>
      </p:sp>
      <p:sp>
        <p:nvSpPr>
          <p:cNvPr id="29" name="Shape 27"/>
          <p:cNvSpPr/>
          <p:nvPr/>
        </p:nvSpPr>
        <p:spPr>
          <a:xfrm>
            <a:off x="731520" y="377647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D3F9D8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7764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371600" y="3703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 Recommendation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31920" y="37033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Specific, actionable, connected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2"/>
          <p:cNvSpPr/>
          <p:nvPr/>
        </p:nvSpPr>
        <p:spPr>
          <a:xfrm>
            <a:off x="731520" y="4279392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D3F9D8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42793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37160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Connections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3931920" y="42062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Documented introductions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48640" y="4572000"/>
            <a:ext cx="8046720" cy="411480"/>
          </a:xfrm>
          <a:prstGeom prst="rect">
            <a:avLst/>
          </a:prstGeom>
          <a:solidFill>
            <a:srgbClr val="EBFBEE"/>
          </a:solidFill>
          <a:ln/>
        </p:spPr>
      </p:sp>
      <p:sp>
        <p:nvSpPr>
          <p:cNvPr id="39" name="Text 37"/>
          <p:cNvSpPr/>
          <p:nvPr/>
        </p:nvSpPr>
        <p:spPr>
          <a:xfrm>
            <a:off x="822960" y="4572000"/>
            <a:ext cx="7498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Due: Friday, April 25 — submit as one URL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Evaluation rubric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scored 1–4. You need a 2+ on every component to pass.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solidFill>
            <a:srgbClr val="D0EBFF"/>
          </a:solidFill>
          <a:ln w="9525">
            <a:solidFill>
              <a:srgbClr val="1971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54864" cy="457200"/>
          </a:xfrm>
          <a:prstGeom prst="rect">
            <a:avLst/>
          </a:prstGeom>
          <a:solidFill>
            <a:srgbClr val="1971C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69164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971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80160" y="16916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Exemplary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743200" y="16916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Exceeds expectations. Could be used as a model.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40280"/>
            <a:ext cx="8046720" cy="457200"/>
          </a:xfrm>
          <a:prstGeom prst="rect">
            <a:avLst/>
          </a:prstGeom>
          <a:solidFill>
            <a:srgbClr val="EBFBEE"/>
          </a:solidFill>
          <a:ln w="9525">
            <a:solidFill>
              <a:srgbClr val="2B8A3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240280"/>
            <a:ext cx="54864" cy="457200"/>
          </a:xfrm>
          <a:prstGeom prst="rect">
            <a:avLst/>
          </a:prstGeom>
          <a:solidFill>
            <a:srgbClr val="2B8A3E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24028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80160" y="22402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Proficient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743200" y="224028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all expectations. Complete, specific, grounded.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solidFill>
            <a:srgbClr val="FFF9DB"/>
          </a:solidFill>
          <a:ln w="9525">
            <a:solidFill>
              <a:srgbClr val="F59F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2788920"/>
            <a:ext cx="54864" cy="457200"/>
          </a:xfrm>
          <a:prstGeom prst="rect">
            <a:avLst/>
          </a:prstGeom>
          <a:solidFill>
            <a:srgbClr val="F59F00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27889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F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Developing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743200" y="278892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Meets minimum. Present but may be generic.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48640" y="3337560"/>
            <a:ext cx="8046720" cy="457200"/>
          </a:xfrm>
          <a:prstGeom prst="rect">
            <a:avLst/>
          </a:prstGeom>
          <a:solidFill>
            <a:srgbClr val="FFE3E3"/>
          </a:solidFill>
          <a:ln w="9525">
            <a:solidFill>
              <a:srgbClr val="FA52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337560"/>
            <a:ext cx="54864" cy="457200"/>
          </a:xfrm>
          <a:prstGeom prst="rect">
            <a:avLst/>
          </a:prstGeom>
          <a:solidFill>
            <a:srgbClr val="FA5252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3375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52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80160" y="33375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Incomplete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743200" y="333756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Missing, generic, or disconnected. Requires revision.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38862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20–24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3886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with Distinction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2062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16–19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4206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 with Merit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4526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12–15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920240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48640" y="48463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15240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920240" y="4846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Revise and Resubmit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you submit: final checklist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six components are present and clearly labeled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7335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component has enough depth to evaluate (not just an outline)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02082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C1 uses real data and classifies by severity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6829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C2 connects PEAS findings to your product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7157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C3 is specific to your team, not generic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C4 connects legal exposure to your specific findings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41071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C5 is specific, actionable, and tied to C1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58184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C6 documents stakeholder introductions and what you learned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105656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portfolio tells a coherent story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4531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URL works and is accessible to the evaluator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9ECE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  |  Applied Skills Assignment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7315200" y="91440"/>
            <a:ext cx="1463040" cy="320040"/>
          </a:xfrm>
          <a:prstGeom prst="roundRect">
            <a:avLst>
              <a:gd name="adj" fmla="val 28571"/>
            </a:avLst>
          </a:prstGeom>
          <a:solidFill>
            <a:srgbClr val="D3F9D8"/>
          </a:solidFill>
          <a:ln w="9525">
            <a:solidFill>
              <a:srgbClr val="51CF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0" y="914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Badge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685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happens after submission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8046720" cy="73152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371600"/>
            <a:ext cx="54864" cy="73152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1508760"/>
            <a:ext cx="457200" cy="457200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Feedback returned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17320" y="17556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Within one week (by May 2)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286000"/>
            <a:ext cx="8046720" cy="73152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286000"/>
            <a:ext cx="54864" cy="73152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2423160"/>
            <a:ext cx="457200" cy="457200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17320" y="2377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any component scores a 1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17320" y="26700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receive specific feedback and have one resubmission opportunity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200400"/>
            <a:ext cx="8046720" cy="731520"/>
          </a:xfrm>
          <a:prstGeom prst="rect">
            <a:avLst/>
          </a:prstGeom>
          <a:solidFill>
            <a:srgbClr val="F1F3F5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200400"/>
            <a:ext cx="54864" cy="731520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3337560"/>
            <a:ext cx="457200" cy="457200"/>
          </a:xfrm>
          <a:prstGeom prst="ellipse">
            <a:avLst/>
          </a:prstGeom>
          <a:solidFill>
            <a:srgbClr val="51CF6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417320" y="3291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Resubmission deadline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417320" y="35844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week after feedback is provided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8046720" cy="594360"/>
          </a:xfrm>
          <a:prstGeom prst="rect">
            <a:avLst/>
          </a:prstGeom>
          <a:solidFill>
            <a:srgbClr val="EBFBEE"/>
          </a:solidFill>
          <a:ln w="12700">
            <a:solidFill>
              <a:srgbClr val="51CF6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411480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the capstone confers Badge 3: Deliver. This completes the DACE program.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3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51CF6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4864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already have</a:t>
            </a:r>
            <a:endParaRPr lang="en-US" sz="3600" dirty="0"/>
          </a:p>
          <a:p>
            <a:pPr algn="ctr" indent="0" marL="0">
              <a:buNone/>
            </a:pPr>
            <a:r>
              <a:rPr lang="en-US" sz="3600" b="1" dirty="0">
                <a:solidFill>
                  <a:srgbClr val="21252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everything you need.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1371600" y="21031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Discover Badge taught you what to look for.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Define Badge taught you how users experience it.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4950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Deliver Badge is where you applied it to your product.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200400" y="3383280"/>
            <a:ext cx="2743200" cy="0"/>
          </a:xfrm>
          <a:prstGeom prst="line">
            <a:avLst/>
          </a:prstGeom>
          <a:noFill/>
          <a:ln w="25400">
            <a:solidFill>
              <a:srgbClr val="51CF6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657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B8A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it.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4389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68E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 See Damian. Need an extension? Ask before the deadline.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15 — Final Portfolio Submission</dc:title>
  <dc:subject>PptxGenJS Presentation</dc:subject>
  <dc:creator>PptxGenJS</dc:creator>
  <cp:lastModifiedBy>PptxGenJS</cp:lastModifiedBy>
  <cp:revision>1</cp:revision>
  <dcterms:created xsi:type="dcterms:W3CDTF">2026-03-24T13:45:47Z</dcterms:created>
  <dcterms:modified xsi:type="dcterms:W3CDTF">2026-03-24T13:45:47Z</dcterms:modified>
</cp:coreProperties>
</file>